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148840"/>
            <a:ext cx="237744" cy="237744"/>
          </a:xfrm>
          <a:prstGeom prst="ellipse">
            <a:avLst/>
          </a:prstGeom>
          <a:solidFill>
            <a:srgbClr val="D9532B"/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" y="2148840"/>
            <a:ext cx="237744" cy="237744"/>
          </a:xfrm>
          <a:prstGeom prst="ellipse">
            <a:avLst/>
          </a:prstGeom>
          <a:solidFill>
            <a:srgbClr val="7C8B5A"/>
          </a:solidFill>
          <a:ln/>
        </p:spPr>
      </p:sp>
      <p:sp>
        <p:nvSpPr>
          <p:cNvPr id="4" name="Shape 2"/>
          <p:cNvSpPr/>
          <p:nvPr/>
        </p:nvSpPr>
        <p:spPr>
          <a:xfrm>
            <a:off x="1408176" y="2148840"/>
            <a:ext cx="237744" cy="237744"/>
          </a:xfrm>
          <a:prstGeom prst="ellipse">
            <a:avLst/>
          </a:prstGeom>
          <a:solidFill>
            <a:srgbClr val="5B7A99"/>
          </a:solidFill>
          <a:ln/>
        </p:spPr>
      </p:sp>
      <p:sp>
        <p:nvSpPr>
          <p:cNvPr id="5" name="Text 3"/>
          <p:cNvSpPr/>
          <p:nvPr/>
        </p:nvSpPr>
        <p:spPr>
          <a:xfrm>
            <a:off x="612648" y="2514600"/>
            <a:ext cx="10972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Weather</a:t>
            </a:r>
            <a:pPr indent="0" marL="0">
              <a:buNone/>
            </a:pPr>
            <a:r>
              <a:rPr lang="en-US" sz="6600" b="1" dirty="0">
                <a:solidFill>
                  <a:srgbClr val="D953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Fit</a:t>
            </a:r>
            <a:endParaRPr lang="en-US" sz="6600" dirty="0"/>
          </a:p>
        </p:txBody>
      </p:sp>
      <p:sp>
        <p:nvSpPr>
          <p:cNvPr id="6" name="Text 4"/>
          <p:cNvSpPr/>
          <p:nvPr/>
        </p:nvSpPr>
        <p:spPr>
          <a:xfrm>
            <a:off x="640080" y="37033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날씨 기반 코디 큐레이션 웹 서비스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40080" y="41605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FA3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매일의 ‘오늘 뭐 입지?’를, 날씨 한 번으로 해결한다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58064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 프로그래밍 · </a:t>
            </a:r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Weather</a:t>
            </a:r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D953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Fit</a:t>
            </a:r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기획안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FA3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정은호 (으노) · AI소프트웨어과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53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· 개요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WeatherFit이란?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1C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 날씨</a:t>
            </a:r>
            <a:pPr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+ </a:t>
            </a:r>
            <a:pPr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1C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스타일 프로필</a:t>
            </a:r>
            <a:pPr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+ </a:t>
            </a:r>
            <a:pPr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1C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옷장</a:t>
            </a:r>
            <a:pPr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1C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바탕으로 오늘 입기 좋은 코디를 추천하는</a:t>
            </a:r>
            <a:pPr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D953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날씨 기반 패션 큐레이션 웹앱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640080" y="2514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단순 ‘기온에 맞는 옷’이 아니라, 다음 요소를 종합한다.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3063240"/>
            <a:ext cx="1998878" cy="777240"/>
          </a:xfrm>
          <a:prstGeom prst="roundRect">
            <a:avLst>
              <a:gd name="adj" fmla="val 8235"/>
            </a:avLst>
          </a:prstGeom>
          <a:solidFill>
            <a:srgbClr val="F2F4F6"/>
          </a:solidFill>
          <a:ln/>
        </p:spPr>
      </p:sp>
      <p:sp>
        <p:nvSpPr>
          <p:cNvPr id="7" name="Shape 5"/>
          <p:cNvSpPr/>
          <p:nvPr/>
        </p:nvSpPr>
        <p:spPr>
          <a:xfrm>
            <a:off x="896112" y="3387852"/>
            <a:ext cx="128016" cy="128016"/>
          </a:xfrm>
          <a:prstGeom prst="ellipse">
            <a:avLst/>
          </a:prstGeom>
          <a:solidFill>
            <a:srgbClr val="D9532B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3063240"/>
            <a:ext cx="14502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 날씨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2867558" y="3063240"/>
            <a:ext cx="1998878" cy="777240"/>
          </a:xfrm>
          <a:prstGeom prst="roundRect">
            <a:avLst>
              <a:gd name="adj" fmla="val 8235"/>
            </a:avLst>
          </a:prstGeom>
          <a:solidFill>
            <a:srgbClr val="F2F4F6"/>
          </a:solidFill>
          <a:ln/>
        </p:spPr>
      </p:sp>
      <p:sp>
        <p:nvSpPr>
          <p:cNvPr id="10" name="Shape 8"/>
          <p:cNvSpPr/>
          <p:nvPr/>
        </p:nvSpPr>
        <p:spPr>
          <a:xfrm>
            <a:off x="3123590" y="3387852"/>
            <a:ext cx="128016" cy="128016"/>
          </a:xfrm>
          <a:prstGeom prst="ellipse">
            <a:avLst/>
          </a:prstGeom>
          <a:solidFill>
            <a:srgbClr val="7C8B5A"/>
          </a:solidFill>
          <a:ln/>
        </p:spPr>
      </p:sp>
      <p:sp>
        <p:nvSpPr>
          <p:cNvPr id="11" name="Text 9"/>
          <p:cNvSpPr/>
          <p:nvPr/>
        </p:nvSpPr>
        <p:spPr>
          <a:xfrm>
            <a:off x="3324758" y="3063240"/>
            <a:ext cx="14502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체감온도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095037" y="3063240"/>
            <a:ext cx="1998878" cy="777240"/>
          </a:xfrm>
          <a:prstGeom prst="roundRect">
            <a:avLst>
              <a:gd name="adj" fmla="val 8235"/>
            </a:avLst>
          </a:prstGeom>
          <a:solidFill>
            <a:srgbClr val="F2F4F6"/>
          </a:solidFill>
          <a:ln/>
        </p:spPr>
      </p:sp>
      <p:sp>
        <p:nvSpPr>
          <p:cNvPr id="13" name="Shape 11"/>
          <p:cNvSpPr/>
          <p:nvPr/>
        </p:nvSpPr>
        <p:spPr>
          <a:xfrm>
            <a:off x="5351069" y="3387852"/>
            <a:ext cx="128016" cy="128016"/>
          </a:xfrm>
          <a:prstGeom prst="ellipse">
            <a:avLst/>
          </a:prstGeom>
          <a:solidFill>
            <a:srgbClr val="5B7A99"/>
          </a:solidFill>
          <a:ln/>
        </p:spPr>
      </p:sp>
      <p:sp>
        <p:nvSpPr>
          <p:cNvPr id="14" name="Text 12"/>
          <p:cNvSpPr/>
          <p:nvPr/>
        </p:nvSpPr>
        <p:spPr>
          <a:xfrm>
            <a:off x="5552237" y="3063240"/>
            <a:ext cx="14502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강수 여부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7322515" y="3063240"/>
            <a:ext cx="1998878" cy="777240"/>
          </a:xfrm>
          <a:prstGeom prst="roundRect">
            <a:avLst>
              <a:gd name="adj" fmla="val 8235"/>
            </a:avLst>
          </a:prstGeom>
          <a:solidFill>
            <a:srgbClr val="F2F4F6"/>
          </a:solidFill>
          <a:ln/>
        </p:spPr>
      </p:sp>
      <p:sp>
        <p:nvSpPr>
          <p:cNvPr id="16" name="Shape 14"/>
          <p:cNvSpPr/>
          <p:nvPr/>
        </p:nvSpPr>
        <p:spPr>
          <a:xfrm>
            <a:off x="7578547" y="3387852"/>
            <a:ext cx="128016" cy="128016"/>
          </a:xfrm>
          <a:prstGeom prst="ellipse">
            <a:avLst/>
          </a:prstGeom>
          <a:solidFill>
            <a:srgbClr val="D9532B"/>
          </a:solidFill>
          <a:ln/>
        </p:spPr>
      </p:sp>
      <p:sp>
        <p:nvSpPr>
          <p:cNvPr id="17" name="Text 15"/>
          <p:cNvSpPr/>
          <p:nvPr/>
        </p:nvSpPr>
        <p:spPr>
          <a:xfrm>
            <a:off x="7779715" y="3063240"/>
            <a:ext cx="14502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일교차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9549994" y="3063240"/>
            <a:ext cx="1998878" cy="777240"/>
          </a:xfrm>
          <a:prstGeom prst="roundRect">
            <a:avLst>
              <a:gd name="adj" fmla="val 8235"/>
            </a:avLst>
          </a:prstGeom>
          <a:solidFill>
            <a:srgbClr val="F2F4F6"/>
          </a:solidFill>
          <a:ln/>
        </p:spPr>
      </p:sp>
      <p:sp>
        <p:nvSpPr>
          <p:cNvPr id="19" name="Shape 17"/>
          <p:cNvSpPr/>
          <p:nvPr/>
        </p:nvSpPr>
        <p:spPr>
          <a:xfrm>
            <a:off x="9806026" y="3387852"/>
            <a:ext cx="128016" cy="128016"/>
          </a:xfrm>
          <a:prstGeom prst="ellipse">
            <a:avLst/>
          </a:prstGeom>
          <a:solidFill>
            <a:srgbClr val="7C8B5A"/>
          </a:solidFill>
          <a:ln/>
        </p:spPr>
      </p:sp>
      <p:sp>
        <p:nvSpPr>
          <p:cNvPr id="20" name="Text 18"/>
          <p:cNvSpPr/>
          <p:nvPr/>
        </p:nvSpPr>
        <p:spPr>
          <a:xfrm>
            <a:off x="10007194" y="3063240"/>
            <a:ext cx="14502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성별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40080" y="4114800"/>
            <a:ext cx="1998878" cy="777240"/>
          </a:xfrm>
          <a:prstGeom prst="roundRect">
            <a:avLst>
              <a:gd name="adj" fmla="val 8235"/>
            </a:avLst>
          </a:prstGeom>
          <a:solidFill>
            <a:srgbClr val="F2F4F6"/>
          </a:solidFill>
          <a:ln/>
        </p:spPr>
      </p:sp>
      <p:sp>
        <p:nvSpPr>
          <p:cNvPr id="22" name="Shape 20"/>
          <p:cNvSpPr/>
          <p:nvPr/>
        </p:nvSpPr>
        <p:spPr>
          <a:xfrm>
            <a:off x="896112" y="4439412"/>
            <a:ext cx="128016" cy="128016"/>
          </a:xfrm>
          <a:prstGeom prst="ellipse">
            <a:avLst/>
          </a:prstGeom>
          <a:solidFill>
            <a:srgbClr val="5B7A99"/>
          </a:solidFill>
          <a:ln/>
        </p:spPr>
      </p:sp>
      <p:sp>
        <p:nvSpPr>
          <p:cNvPr id="23" name="Text 21"/>
          <p:cNvSpPr/>
          <p:nvPr/>
        </p:nvSpPr>
        <p:spPr>
          <a:xfrm>
            <a:off x="1097280" y="4114800"/>
            <a:ext cx="14502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선호 스타일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2867558" y="4114800"/>
            <a:ext cx="1998878" cy="777240"/>
          </a:xfrm>
          <a:prstGeom prst="roundRect">
            <a:avLst>
              <a:gd name="adj" fmla="val 8235"/>
            </a:avLst>
          </a:prstGeom>
          <a:solidFill>
            <a:srgbClr val="F2F4F6"/>
          </a:solidFill>
          <a:ln/>
        </p:spPr>
      </p:sp>
      <p:sp>
        <p:nvSpPr>
          <p:cNvPr id="25" name="Shape 23"/>
          <p:cNvSpPr/>
          <p:nvPr/>
        </p:nvSpPr>
        <p:spPr>
          <a:xfrm>
            <a:off x="3123590" y="4439412"/>
            <a:ext cx="128016" cy="128016"/>
          </a:xfrm>
          <a:prstGeom prst="ellipse">
            <a:avLst/>
          </a:prstGeom>
          <a:solidFill>
            <a:srgbClr val="D9532B"/>
          </a:solidFill>
          <a:ln/>
        </p:spPr>
      </p:sp>
      <p:sp>
        <p:nvSpPr>
          <p:cNvPr id="26" name="Text 24"/>
          <p:cNvSpPr/>
          <p:nvPr/>
        </p:nvSpPr>
        <p:spPr>
          <a:xfrm>
            <a:off x="3324758" y="4114800"/>
            <a:ext cx="14502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색감 선호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5095037" y="4114800"/>
            <a:ext cx="1998878" cy="777240"/>
          </a:xfrm>
          <a:prstGeom prst="roundRect">
            <a:avLst>
              <a:gd name="adj" fmla="val 8235"/>
            </a:avLst>
          </a:prstGeom>
          <a:solidFill>
            <a:srgbClr val="F2F4F6"/>
          </a:solidFill>
          <a:ln/>
        </p:spPr>
      </p:sp>
      <p:sp>
        <p:nvSpPr>
          <p:cNvPr id="28" name="Shape 26"/>
          <p:cNvSpPr/>
          <p:nvPr/>
        </p:nvSpPr>
        <p:spPr>
          <a:xfrm>
            <a:off x="5351069" y="4439412"/>
            <a:ext cx="128016" cy="128016"/>
          </a:xfrm>
          <a:prstGeom prst="ellipse">
            <a:avLst/>
          </a:prstGeom>
          <a:solidFill>
            <a:srgbClr val="7C8B5A"/>
          </a:solidFill>
          <a:ln/>
        </p:spPr>
      </p:sp>
      <p:sp>
        <p:nvSpPr>
          <p:cNvPr id="29" name="Text 27"/>
          <p:cNvSpPr/>
          <p:nvPr/>
        </p:nvSpPr>
        <p:spPr>
          <a:xfrm>
            <a:off x="5552237" y="4114800"/>
            <a:ext cx="14502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컬러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7322515" y="4114800"/>
            <a:ext cx="1998878" cy="777240"/>
          </a:xfrm>
          <a:prstGeom prst="roundRect">
            <a:avLst>
              <a:gd name="adj" fmla="val 8235"/>
            </a:avLst>
          </a:prstGeom>
          <a:solidFill>
            <a:srgbClr val="F2F4F6"/>
          </a:solidFill>
          <a:ln/>
        </p:spPr>
      </p:sp>
      <p:sp>
        <p:nvSpPr>
          <p:cNvPr id="31" name="Shape 29"/>
          <p:cNvSpPr/>
          <p:nvPr/>
        </p:nvSpPr>
        <p:spPr>
          <a:xfrm>
            <a:off x="7578547" y="4439412"/>
            <a:ext cx="128016" cy="128016"/>
          </a:xfrm>
          <a:prstGeom prst="ellipse">
            <a:avLst/>
          </a:prstGeom>
          <a:solidFill>
            <a:srgbClr val="5B7A99"/>
          </a:solidFill>
          <a:ln/>
        </p:spPr>
      </p:sp>
      <p:sp>
        <p:nvSpPr>
          <p:cNvPr id="32" name="Text 30"/>
          <p:cNvSpPr/>
          <p:nvPr/>
        </p:nvSpPr>
        <p:spPr>
          <a:xfrm>
            <a:off x="7779715" y="4114800"/>
            <a:ext cx="14502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옷장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9549994" y="4114800"/>
            <a:ext cx="1998878" cy="777240"/>
          </a:xfrm>
          <a:prstGeom prst="roundRect">
            <a:avLst>
              <a:gd name="adj" fmla="val 8235"/>
            </a:avLst>
          </a:prstGeom>
          <a:solidFill>
            <a:srgbClr val="F2F4F6"/>
          </a:solidFill>
          <a:ln/>
        </p:spPr>
      </p:sp>
      <p:sp>
        <p:nvSpPr>
          <p:cNvPr id="34" name="Shape 32"/>
          <p:cNvSpPr/>
          <p:nvPr/>
        </p:nvSpPr>
        <p:spPr>
          <a:xfrm>
            <a:off x="9806026" y="4439412"/>
            <a:ext cx="128016" cy="128016"/>
          </a:xfrm>
          <a:prstGeom prst="ellipse">
            <a:avLst/>
          </a:prstGeom>
          <a:solidFill>
            <a:srgbClr val="D9532B"/>
          </a:solidFill>
          <a:ln/>
        </p:spPr>
      </p:sp>
      <p:sp>
        <p:nvSpPr>
          <p:cNvPr id="35" name="Text 33"/>
          <p:cNvSpPr/>
          <p:nvPr/>
        </p:nvSpPr>
        <p:spPr>
          <a:xfrm>
            <a:off x="10007194" y="4114800"/>
            <a:ext cx="14502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고정 아이템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53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· 타겟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웹사이트 주요 타겟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392424" cy="2286000"/>
          </a:xfrm>
          <a:prstGeom prst="roundRect">
            <a:avLst>
              <a:gd name="adj" fmla="val 4000"/>
            </a:avLst>
          </a:prstGeom>
          <a:solidFill>
            <a:srgbClr val="F2F4F6"/>
          </a:solidFill>
          <a:ln/>
          <a:effectLst>
            <a:outerShdw sx="100000" sy="100000" kx="0" ky="0" algn="bl" rotWithShape="0" blurRad="88900" dist="38100" dir="5400000">
              <a:srgbClr val="9AA5B1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2011680"/>
            <a:ext cx="457200" cy="457200"/>
          </a:xfrm>
          <a:prstGeom prst="ellipse">
            <a:avLst/>
          </a:prstGeom>
          <a:solidFill>
            <a:srgbClr val="5B7A99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05840" y="2606040"/>
            <a:ext cx="2660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출근·등교러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05840" y="3063240"/>
            <a:ext cx="26609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아침에 빠르게 코디를 정하고 싶은 대학생·직장인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98264" y="1691640"/>
            <a:ext cx="3392424" cy="2286000"/>
          </a:xfrm>
          <a:prstGeom prst="roundRect">
            <a:avLst>
              <a:gd name="adj" fmla="val 4000"/>
            </a:avLst>
          </a:prstGeom>
          <a:solidFill>
            <a:srgbClr val="F2F4F6"/>
          </a:solidFill>
          <a:ln/>
          <a:effectLst>
            <a:outerShdw sx="100000" sy="100000" kx="0" ky="0" algn="bl" rotWithShape="0" blurRad="88900" dist="38100" dir="5400000">
              <a:srgbClr val="9AA5B1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64024" y="2011680"/>
            <a:ext cx="457200" cy="457200"/>
          </a:xfrm>
          <a:prstGeom prst="ellipse">
            <a:avLst/>
          </a:prstGeom>
          <a:solidFill>
            <a:srgbClr val="D9532B"/>
          </a:solidFill>
          <a:ln/>
        </p:spPr>
      </p:sp>
      <p:sp>
        <p:nvSpPr>
          <p:cNvPr id="11" name="Text 9"/>
          <p:cNvSpPr/>
          <p:nvPr/>
        </p:nvSpPr>
        <p:spPr>
          <a:xfrm>
            <a:off x="4764024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764024" y="2606040"/>
            <a:ext cx="2660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패션 초보자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764024" y="3063240"/>
            <a:ext cx="26609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관심은 있지만 코디 조합이 어려운 사람. 검증된 추천이 필요함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56448" y="1691640"/>
            <a:ext cx="3392424" cy="2286000"/>
          </a:xfrm>
          <a:prstGeom prst="roundRect">
            <a:avLst>
              <a:gd name="adj" fmla="val 4000"/>
            </a:avLst>
          </a:prstGeom>
          <a:solidFill>
            <a:srgbClr val="F2F4F6"/>
          </a:solidFill>
          <a:ln/>
          <a:effectLst>
            <a:outerShdw sx="100000" sy="100000" kx="0" ky="0" algn="bl" rotWithShape="0" blurRad="88900" dist="38100" dir="5400000">
              <a:srgbClr val="9AA5B1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522208" y="2011680"/>
            <a:ext cx="457200" cy="457200"/>
          </a:xfrm>
          <a:prstGeom prst="ellipse">
            <a:avLst/>
          </a:prstGeom>
          <a:solidFill>
            <a:srgbClr val="7C8B5A"/>
          </a:solidFill>
          <a:ln/>
        </p:spPr>
      </p:sp>
      <p:sp>
        <p:nvSpPr>
          <p:cNvPr id="16" name="Text 14"/>
          <p:cNvSpPr/>
          <p:nvPr/>
        </p:nvSpPr>
        <p:spPr>
          <a:xfrm>
            <a:off x="8522208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522208" y="2606040"/>
            <a:ext cx="2660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옷장 활용러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522208" y="3063240"/>
            <a:ext cx="26609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보유한 옷으로 ‘실제 입을 수 있는’ 코디를 받고 싶은 사람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4251960"/>
            <a:ext cx="10908792" cy="1005840"/>
          </a:xfrm>
          <a:prstGeom prst="roundRect">
            <a:avLst>
              <a:gd name="adj" fmla="val 7273"/>
            </a:avLst>
          </a:prstGeom>
          <a:solidFill>
            <a:srgbClr val="FBF3EF"/>
          </a:solidFill>
          <a:ln/>
        </p:spPr>
      </p:sp>
      <p:sp>
        <p:nvSpPr>
          <p:cNvPr id="20" name="Text 18"/>
          <p:cNvSpPr/>
          <p:nvPr/>
        </p:nvSpPr>
        <p:spPr>
          <a:xfrm>
            <a:off x="1005840" y="4251960"/>
            <a:ext cx="101772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D953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세부 타겟   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C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10~30대 · 대학생 · 출근/등교 전 빠른 코디 · 패션 초보자 · 미니멀/캐주얼/스트릿/포멀/스포티 스타일 사용자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53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· 기능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기능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555748" cy="1874520"/>
          </a:xfrm>
          <a:prstGeom prst="roundRect">
            <a:avLst>
              <a:gd name="adj" fmla="val 3902"/>
            </a:avLst>
          </a:prstGeom>
          <a:solidFill>
            <a:srgbClr val="F2F4F6"/>
          </a:solidFill>
          <a:ln/>
          <a:effectLst>
            <a:outerShdw sx="100000" sy="100000" kx="0" ky="0" algn="bl" rotWithShape="0" blurRad="88900" dist="38100" dir="5400000">
              <a:srgbClr val="9AA5B1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965960"/>
            <a:ext cx="420624" cy="420624"/>
          </a:xfrm>
          <a:prstGeom prst="ellipse">
            <a:avLst/>
          </a:prstGeom>
          <a:solidFill>
            <a:srgbClr val="D9532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9659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2532888"/>
            <a:ext cx="20071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스타일 프로필 설정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2953512"/>
            <a:ext cx="20071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나이대·성별·위치·스타일·색감 선택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424428" y="1691640"/>
            <a:ext cx="2555748" cy="1874520"/>
          </a:xfrm>
          <a:prstGeom prst="roundRect">
            <a:avLst>
              <a:gd name="adj" fmla="val 3902"/>
            </a:avLst>
          </a:prstGeom>
          <a:solidFill>
            <a:srgbClr val="F2F4F6"/>
          </a:solidFill>
          <a:ln/>
          <a:effectLst>
            <a:outerShdw sx="100000" sy="100000" kx="0" ky="0" algn="bl" rotWithShape="0" blurRad="88900" dist="38100" dir="5400000">
              <a:srgbClr val="9AA5B1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98748" y="1965960"/>
            <a:ext cx="420624" cy="420624"/>
          </a:xfrm>
          <a:prstGeom prst="ellipse">
            <a:avLst/>
          </a:prstGeom>
          <a:solidFill>
            <a:srgbClr val="5B7A99"/>
          </a:solidFill>
          <a:ln/>
        </p:spPr>
      </p:sp>
      <p:sp>
        <p:nvSpPr>
          <p:cNvPr id="11" name="Text 9"/>
          <p:cNvSpPr/>
          <p:nvPr/>
        </p:nvSpPr>
        <p:spPr>
          <a:xfrm>
            <a:off x="3698748" y="19659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698748" y="2532888"/>
            <a:ext cx="20071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 날씨 추천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698748" y="2953512"/>
            <a:ext cx="20071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체감온도·강수 반영 (Open-Meteo)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08776" y="1691640"/>
            <a:ext cx="2555748" cy="1874520"/>
          </a:xfrm>
          <a:prstGeom prst="roundRect">
            <a:avLst>
              <a:gd name="adj" fmla="val 3902"/>
            </a:avLst>
          </a:prstGeom>
          <a:solidFill>
            <a:srgbClr val="F2F4F6"/>
          </a:solidFill>
          <a:ln/>
          <a:effectLst>
            <a:outerShdw sx="100000" sy="100000" kx="0" ky="0" algn="bl" rotWithShape="0" blurRad="88900" dist="38100" dir="5400000">
              <a:srgbClr val="9AA5B1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83096" y="1965960"/>
            <a:ext cx="420624" cy="420624"/>
          </a:xfrm>
          <a:prstGeom prst="ellipse">
            <a:avLst/>
          </a:prstGeom>
          <a:solidFill>
            <a:srgbClr val="7C8B5A"/>
          </a:solidFill>
          <a:ln/>
        </p:spPr>
      </p:sp>
      <p:sp>
        <p:nvSpPr>
          <p:cNvPr id="16" name="Text 14"/>
          <p:cNvSpPr/>
          <p:nvPr/>
        </p:nvSpPr>
        <p:spPr>
          <a:xfrm>
            <a:off x="6483096" y="19659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83096" y="2532888"/>
            <a:ext cx="20071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코디 3가지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83096" y="2953512"/>
            <a:ext cx="20071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후보가 아닌 완성된 코디 3안 제안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993124" y="1691640"/>
            <a:ext cx="2555748" cy="1874520"/>
          </a:xfrm>
          <a:prstGeom prst="roundRect">
            <a:avLst>
              <a:gd name="adj" fmla="val 3902"/>
            </a:avLst>
          </a:prstGeom>
          <a:solidFill>
            <a:srgbClr val="F2F4F6"/>
          </a:solidFill>
          <a:ln/>
          <a:effectLst>
            <a:outerShdw sx="100000" sy="100000" kx="0" ky="0" algn="bl" rotWithShape="0" blurRad="88900" dist="38100" dir="5400000">
              <a:srgbClr val="9AA5B1">
                <a:alpha val="2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267444" y="1965960"/>
            <a:ext cx="420624" cy="420624"/>
          </a:xfrm>
          <a:prstGeom prst="ellipse">
            <a:avLst/>
          </a:prstGeom>
          <a:solidFill>
            <a:srgbClr val="5B7A99"/>
          </a:solidFill>
          <a:ln/>
        </p:spPr>
      </p:sp>
      <p:sp>
        <p:nvSpPr>
          <p:cNvPr id="21" name="Text 19"/>
          <p:cNvSpPr/>
          <p:nvPr/>
        </p:nvSpPr>
        <p:spPr>
          <a:xfrm>
            <a:off x="9267444" y="19659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267444" y="2532888"/>
            <a:ext cx="20071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색감 팔레트 추천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267444" y="2953512"/>
            <a:ext cx="20071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선호 색을 추천 코디에 반드시 반영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3840480"/>
            <a:ext cx="2555748" cy="1874520"/>
          </a:xfrm>
          <a:prstGeom prst="roundRect">
            <a:avLst>
              <a:gd name="adj" fmla="val 3902"/>
            </a:avLst>
          </a:prstGeom>
          <a:solidFill>
            <a:srgbClr val="F2F4F6"/>
          </a:solidFill>
          <a:ln/>
          <a:effectLst>
            <a:outerShdw sx="100000" sy="100000" kx="0" ky="0" algn="bl" rotWithShape="0" blurRad="88900" dist="38100" dir="5400000">
              <a:srgbClr val="9AA5B1">
                <a:alpha val="2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14400" y="4114800"/>
            <a:ext cx="420624" cy="420624"/>
          </a:xfrm>
          <a:prstGeom prst="ellipse">
            <a:avLst/>
          </a:prstGeom>
          <a:solidFill>
            <a:srgbClr val="D9532B"/>
          </a:solidFill>
          <a:ln/>
        </p:spPr>
      </p:sp>
      <p:sp>
        <p:nvSpPr>
          <p:cNvPr id="26" name="Text 24"/>
          <p:cNvSpPr/>
          <p:nvPr/>
        </p:nvSpPr>
        <p:spPr>
          <a:xfrm>
            <a:off x="914400" y="41148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14400" y="4681728"/>
            <a:ext cx="20071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옷장 등록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14400" y="5102352"/>
            <a:ext cx="20071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보유한 옷을 직접 등록·관리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3424428" y="3840480"/>
            <a:ext cx="2555748" cy="1874520"/>
          </a:xfrm>
          <a:prstGeom prst="roundRect">
            <a:avLst>
              <a:gd name="adj" fmla="val 3902"/>
            </a:avLst>
          </a:prstGeom>
          <a:solidFill>
            <a:srgbClr val="F2F4F6"/>
          </a:solidFill>
          <a:ln/>
          <a:effectLst>
            <a:outerShdw sx="100000" sy="100000" kx="0" ky="0" algn="bl" rotWithShape="0" blurRad="88900" dist="38100" dir="5400000">
              <a:srgbClr val="9AA5B1">
                <a:alpha val="2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698748" y="4114800"/>
            <a:ext cx="420624" cy="420624"/>
          </a:xfrm>
          <a:prstGeom prst="ellipse">
            <a:avLst/>
          </a:prstGeom>
          <a:solidFill>
            <a:srgbClr val="7C8B5A"/>
          </a:solidFill>
          <a:ln/>
        </p:spPr>
      </p:sp>
      <p:sp>
        <p:nvSpPr>
          <p:cNvPr id="31" name="Text 29"/>
          <p:cNvSpPr/>
          <p:nvPr/>
        </p:nvSpPr>
        <p:spPr>
          <a:xfrm>
            <a:off x="3698748" y="41148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3698748" y="4681728"/>
            <a:ext cx="20071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색상칩 선택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3698748" y="5102352"/>
            <a:ext cx="20071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색칩으로 정확한 색을 저장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208776" y="3840480"/>
            <a:ext cx="2555748" cy="1874520"/>
          </a:xfrm>
          <a:prstGeom prst="roundRect">
            <a:avLst>
              <a:gd name="adj" fmla="val 3902"/>
            </a:avLst>
          </a:prstGeom>
          <a:solidFill>
            <a:srgbClr val="F2F4F6"/>
          </a:solidFill>
          <a:ln/>
          <a:effectLst>
            <a:outerShdw sx="100000" sy="100000" kx="0" ky="0" algn="bl" rotWithShape="0" blurRad="88900" dist="38100" dir="5400000">
              <a:srgbClr val="9AA5B1">
                <a:alpha val="2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483096" y="4114800"/>
            <a:ext cx="420624" cy="420624"/>
          </a:xfrm>
          <a:prstGeom prst="ellipse">
            <a:avLst/>
          </a:prstGeom>
          <a:solidFill>
            <a:srgbClr val="5B7A99"/>
          </a:solidFill>
          <a:ln/>
        </p:spPr>
      </p:sp>
      <p:sp>
        <p:nvSpPr>
          <p:cNvPr id="36" name="Text 34"/>
          <p:cNvSpPr/>
          <p:nvPr/>
        </p:nvSpPr>
        <p:spPr>
          <a:xfrm>
            <a:off x="6483096" y="41148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6483096" y="4681728"/>
            <a:ext cx="20071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입고 싶은 옷 고정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6483096" y="5102352"/>
            <a:ext cx="20071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고정 아이템 중심으로 나머지 조합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8993124" y="3840480"/>
            <a:ext cx="2555748" cy="1874520"/>
          </a:xfrm>
          <a:prstGeom prst="roundRect">
            <a:avLst>
              <a:gd name="adj" fmla="val 3902"/>
            </a:avLst>
          </a:prstGeom>
          <a:solidFill>
            <a:srgbClr val="F2F4F6"/>
          </a:solidFill>
          <a:ln/>
          <a:effectLst>
            <a:outerShdw sx="100000" sy="100000" kx="0" ky="0" algn="bl" rotWithShape="0" blurRad="88900" dist="38100" dir="5400000">
              <a:srgbClr val="9AA5B1">
                <a:alpha val="2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9267444" y="4114800"/>
            <a:ext cx="420624" cy="420624"/>
          </a:xfrm>
          <a:prstGeom prst="ellipse">
            <a:avLst/>
          </a:prstGeom>
          <a:solidFill>
            <a:srgbClr val="D9532B"/>
          </a:solidFill>
          <a:ln/>
        </p:spPr>
      </p:sp>
      <p:sp>
        <p:nvSpPr>
          <p:cNvPr id="41" name="Text 39"/>
          <p:cNvSpPr/>
          <p:nvPr/>
        </p:nvSpPr>
        <p:spPr>
          <a:xfrm>
            <a:off x="9267444" y="41148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9267444" y="4681728"/>
            <a:ext cx="20071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저장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9267444" y="5102352"/>
            <a:ext cx="20071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프로필·옷장·고정을 localStorage 저장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53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· AI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코디 어시스턴트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D953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Groq Llama 3.3 70B </a:t>
            </a:r>
            <a:pPr indent="0" marL="0">
              <a:buNone/>
            </a:pPr>
            <a:r>
              <a:rPr lang="en-US" sz="14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(무료 API)로 날씨·상황·옷장 정보를 분석해 맞춤 조언을 제공한다.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5271516" cy="3063240"/>
          </a:xfrm>
          <a:prstGeom prst="roundRect">
            <a:avLst>
              <a:gd name="adj" fmla="val 2985"/>
            </a:avLst>
          </a:prstGeom>
          <a:solidFill>
            <a:srgbClr val="F2F4F6"/>
          </a:solidFill>
          <a:ln/>
          <a:effectLst>
            <a:outerShdw sx="100000" sy="100000" kx="0" ky="0" algn="bl" rotWithShape="0" blurRad="88900" dist="38100" dir="5400000">
              <a:srgbClr val="9AA5B1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05840" y="2468880"/>
            <a:ext cx="502920" cy="502920"/>
          </a:xfrm>
          <a:prstGeom prst="ellipse">
            <a:avLst/>
          </a:prstGeom>
          <a:solidFill>
            <a:srgbClr val="D9532B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2468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✦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645920" y="2514600"/>
            <a:ext cx="39913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C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코디 조언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051560" y="3291840"/>
            <a:ext cx="444855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“✦ AI에게 물어보기” 클릭 시 분석</a:t>
            </a:r>
            <a:endParaRPr lang="en-US" sz="13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오늘 날씨 주의점</a:t>
            </a:r>
            <a:endParaRPr lang="en-US" sz="13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추천 코디 중 가장 적합한 것 + 이유</a:t>
            </a:r>
            <a:endParaRPr lang="en-US" sz="13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실용적인 스타일링 팁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277356" y="2103120"/>
            <a:ext cx="5271516" cy="3063240"/>
          </a:xfrm>
          <a:prstGeom prst="roundRect">
            <a:avLst>
              <a:gd name="adj" fmla="val 2985"/>
            </a:avLst>
          </a:prstGeom>
          <a:solidFill>
            <a:srgbClr val="F2F4F6"/>
          </a:solidFill>
          <a:ln/>
          <a:effectLst>
            <a:outerShdw sx="100000" sy="100000" kx="0" ky="0" algn="bl" rotWithShape="0" blurRad="88900" dist="38100" dir="5400000">
              <a:srgbClr val="9AA5B1">
                <a:alpha val="2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643116" y="2468880"/>
            <a:ext cx="502920" cy="502920"/>
          </a:xfrm>
          <a:prstGeom prst="ellipse">
            <a:avLst/>
          </a:prstGeom>
          <a:solidFill>
            <a:srgbClr val="5B7A99"/>
          </a:solidFill>
          <a:ln/>
        </p:spPr>
      </p:sp>
      <p:sp>
        <p:nvSpPr>
          <p:cNvPr id="12" name="Text 10"/>
          <p:cNvSpPr/>
          <p:nvPr/>
        </p:nvSpPr>
        <p:spPr>
          <a:xfrm>
            <a:off x="6643116" y="2468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✦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283196" y="2514600"/>
            <a:ext cx="39913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C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스타일리스트 챗봇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6688836" y="3291840"/>
            <a:ext cx="444855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우측 하단 ✦ 플로팅 버튼으로 대화</a:t>
            </a:r>
            <a:endParaRPr lang="en-US" sz="13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코디·패션·날씨 자유 질문</a:t>
            </a:r>
            <a:endParaRPr lang="en-US" sz="13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빠른 질문 버튼 제공</a:t>
            </a:r>
            <a:endParaRPr lang="en-US" sz="13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멀티턴 대화 + 컨텍스트 기억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53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· 확장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추가 구현 기능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56232"/>
            <a:ext cx="146304" cy="146304"/>
          </a:xfrm>
          <a:prstGeom prst="ellipse">
            <a:avLst/>
          </a:prstGeom>
          <a:solidFill>
            <a:srgbClr val="D9532B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737360"/>
            <a:ext cx="48600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7일 날씨 예보   </a:t>
            </a:r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요일 클릭 시 그날 기준 코디 전환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323076" y="1856232"/>
            <a:ext cx="146304" cy="146304"/>
          </a:xfrm>
          <a:prstGeom prst="ellipse">
            <a:avLst/>
          </a:prstGeom>
          <a:solidFill>
            <a:srgbClr val="5B7A99"/>
          </a:solidFill>
          <a:ln/>
        </p:spPr>
      </p:sp>
      <p:sp>
        <p:nvSpPr>
          <p:cNvPr id="7" name="Text 5"/>
          <p:cNvSpPr/>
          <p:nvPr/>
        </p:nvSpPr>
        <p:spPr>
          <a:xfrm>
            <a:off x="6643116" y="1737360"/>
            <a:ext cx="48600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코디 카드 PNG 저장   </a:t>
            </a:r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Canvas로 이미지 생성·다운로드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2642616"/>
            <a:ext cx="146304" cy="146304"/>
          </a:xfrm>
          <a:prstGeom prst="ellipse">
            <a:avLst/>
          </a:prstGeom>
          <a:solidFill>
            <a:srgbClr val="7C8B5A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2523744"/>
            <a:ext cx="48600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코디 공유   </a:t>
            </a:r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 Share · 클립보드 복사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323076" y="2642616"/>
            <a:ext cx="146304" cy="146304"/>
          </a:xfrm>
          <a:prstGeom prst="ellipse">
            <a:avLst/>
          </a:prstGeom>
          <a:solidFill>
            <a:srgbClr val="D9532B"/>
          </a:solidFill>
          <a:ln/>
        </p:spPr>
      </p:sp>
      <p:sp>
        <p:nvSpPr>
          <p:cNvPr id="11" name="Text 9"/>
          <p:cNvSpPr/>
          <p:nvPr/>
        </p:nvSpPr>
        <p:spPr>
          <a:xfrm>
            <a:off x="6643116" y="2523744"/>
            <a:ext cx="48600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상황별 추천   </a:t>
            </a:r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자유·출근·데이트·운동·여행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3429000"/>
            <a:ext cx="146304" cy="146304"/>
          </a:xfrm>
          <a:prstGeom prst="ellipse">
            <a:avLst/>
          </a:prstGeom>
          <a:solidFill>
            <a:srgbClr val="5B7A99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3310128"/>
            <a:ext cx="48600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코디 히스토리   </a:t>
            </a:r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“오늘 입었어요” 최대 60일 기록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323076" y="3429000"/>
            <a:ext cx="146304" cy="146304"/>
          </a:xfrm>
          <a:prstGeom prst="ellipse">
            <a:avLst/>
          </a:prstGeom>
          <a:solidFill>
            <a:srgbClr val="7C8B5A"/>
          </a:solidFill>
          <a:ln/>
        </p:spPr>
      </p:sp>
      <p:sp>
        <p:nvSpPr>
          <p:cNvPr id="15" name="Text 13"/>
          <p:cNvSpPr/>
          <p:nvPr/>
        </p:nvSpPr>
        <p:spPr>
          <a:xfrm>
            <a:off x="6643116" y="3310128"/>
            <a:ext cx="48600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즐겨찾기 저장   </a:t>
            </a:r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마음에 든 코디 최대 30개 보관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4215384"/>
            <a:ext cx="146304" cy="146304"/>
          </a:xfrm>
          <a:prstGeom prst="ellipse">
            <a:avLst/>
          </a:prstGeom>
          <a:solidFill>
            <a:srgbClr val="D9532B"/>
          </a:solidFill>
          <a:ln/>
        </p:spPr>
      </p:sp>
      <p:sp>
        <p:nvSpPr>
          <p:cNvPr id="17" name="Text 15"/>
          <p:cNvSpPr/>
          <p:nvPr/>
        </p:nvSpPr>
        <p:spPr>
          <a:xfrm>
            <a:off x="960120" y="4096512"/>
            <a:ext cx="48600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다크모드   </a:t>
            </a:r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즉시 전환 · 설정 저장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323076" y="4215384"/>
            <a:ext cx="146304" cy="146304"/>
          </a:xfrm>
          <a:prstGeom prst="ellipse">
            <a:avLst/>
          </a:prstGeom>
          <a:solidFill>
            <a:srgbClr val="5B7A99"/>
          </a:solidFill>
          <a:ln/>
        </p:spPr>
      </p:sp>
      <p:sp>
        <p:nvSpPr>
          <p:cNvPr id="19" name="Text 17"/>
          <p:cNvSpPr/>
          <p:nvPr/>
        </p:nvSpPr>
        <p:spPr>
          <a:xfrm>
            <a:off x="6643116" y="4096512"/>
            <a:ext cx="48600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일별 코디 알림   </a:t>
            </a:r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브라우저 Notification API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40080" y="5001768"/>
            <a:ext cx="146304" cy="146304"/>
          </a:xfrm>
          <a:prstGeom prst="ellipse">
            <a:avLst/>
          </a:prstGeom>
          <a:solidFill>
            <a:srgbClr val="7C8B5A"/>
          </a:solidFill>
          <a:ln/>
        </p:spPr>
      </p:sp>
      <p:sp>
        <p:nvSpPr>
          <p:cNvPr id="21" name="Text 19"/>
          <p:cNvSpPr/>
          <p:nvPr/>
        </p:nvSpPr>
        <p:spPr>
          <a:xfrm>
            <a:off x="960120" y="4882896"/>
            <a:ext cx="48600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온보딩 튜토리얼   </a:t>
            </a:r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최초 방문 4단계 사용법 안내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323076" y="5001768"/>
            <a:ext cx="146304" cy="146304"/>
          </a:xfrm>
          <a:prstGeom prst="ellipse">
            <a:avLst/>
          </a:prstGeom>
          <a:solidFill>
            <a:srgbClr val="D9532B"/>
          </a:solidFill>
          <a:ln/>
        </p:spPr>
      </p:sp>
      <p:sp>
        <p:nvSpPr>
          <p:cNvPr id="23" name="Text 21"/>
          <p:cNvSpPr/>
          <p:nvPr/>
        </p:nvSpPr>
        <p:spPr>
          <a:xfrm>
            <a:off x="6643116" y="4882896"/>
            <a:ext cx="48600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초기화 · 프로필 수정   </a:t>
            </a:r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프로필·옷장·기록 관리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53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 · 동작 원리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작동 메커니즘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68680" y="1828800"/>
            <a:ext cx="0" cy="3794760"/>
          </a:xfrm>
          <a:prstGeom prst="line">
            <a:avLst/>
          </a:prstGeom>
          <a:noFill/>
          <a:ln w="25400">
            <a:solidFill>
              <a:srgbClr val="E2E6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600200"/>
            <a:ext cx="457200" cy="457200"/>
          </a:xfrm>
          <a:prstGeom prst="ellipse">
            <a:avLst/>
          </a:prstGeom>
          <a:solidFill>
            <a:srgbClr val="5B7A99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1563624"/>
            <a:ext cx="101772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프로필 입력    </a:t>
            </a:r>
            <a:pPr indent="0" marL="0">
              <a:buNone/>
            </a:pPr>
            <a:r>
              <a:rPr lang="en-US" sz="13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나이대·성별·위치·스타일·온도 민감도·색감 선호를 수집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2359152"/>
            <a:ext cx="457200" cy="457200"/>
          </a:xfrm>
          <a:prstGeom prst="ellipse">
            <a:avLst/>
          </a:prstGeom>
          <a:solidFill>
            <a:srgbClr val="5B7A99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3591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71600" y="2322576"/>
            <a:ext cx="101772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날씨 호출 &amp; 변환    </a:t>
            </a:r>
            <a:pPr indent="0" marL="0">
              <a:buNone/>
            </a:pPr>
            <a:r>
              <a:rPr lang="en-US" sz="13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Open-Meteo에서 받아 체감온도·강수·일교차로 가공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" y="3118104"/>
            <a:ext cx="457200" cy="457200"/>
          </a:xfrm>
          <a:prstGeom prst="ellipse">
            <a:avLst/>
          </a:prstGeom>
          <a:solidFill>
            <a:srgbClr val="D9532B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1181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71600" y="3081528"/>
            <a:ext cx="101772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추천 엔진 가동    </a:t>
            </a:r>
            <a:pPr indent="0" marL="0">
              <a:buNone/>
            </a:pPr>
            <a:r>
              <a:rPr lang="en-US" sz="13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체감→옷 두께, 강수→방수, 일교차→레이어, 무드·색감 반영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40080" y="3877056"/>
            <a:ext cx="457200" cy="457200"/>
          </a:xfrm>
          <a:prstGeom prst="ellipse">
            <a:avLst/>
          </a:prstGeom>
          <a:solidFill>
            <a:srgbClr val="7C8B5A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8770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71600" y="3840480"/>
            <a:ext cx="101772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코디 3안 + 팔레트    </a:t>
            </a:r>
            <a:pPr indent="0" marL="0">
              <a:buNone/>
            </a:pPr>
            <a:r>
              <a:rPr lang="en-US" sz="13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완성된 코디 3개와 색상 팔레트를 함께 제시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40080" y="4636008"/>
            <a:ext cx="457200" cy="457200"/>
          </a:xfrm>
          <a:prstGeom prst="ellipse">
            <a:avLst/>
          </a:prstGeom>
          <a:solidFill>
            <a:srgbClr val="7C8B5A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636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71600" y="4599432"/>
            <a:ext cx="101772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옷장 반영    </a:t>
            </a:r>
            <a:pPr indent="0" marL="0">
              <a:buNone/>
            </a:pPr>
            <a:r>
              <a:rPr lang="en-US" sz="13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등록한 옷·고정 아이템을 중심으로 나머지 부위 재조합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40080" y="5394960"/>
            <a:ext cx="457200" cy="457200"/>
          </a:xfrm>
          <a:prstGeom prst="ellipse">
            <a:avLst/>
          </a:prstGeom>
          <a:solidFill>
            <a:srgbClr val="5B7A99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5394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371600" y="5358384"/>
            <a:ext cx="101772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저장    </a:t>
            </a:r>
            <a:pPr indent="0" marL="0">
              <a:buNone/>
            </a:pPr>
            <a:r>
              <a:rPr lang="en-US" sz="13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localStorage에 저장 → 새로고침 후에도 데이터 유지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53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 · 데이터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설계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271516" cy="1783080"/>
          </a:xfrm>
          <a:prstGeom prst="roundRect">
            <a:avLst>
              <a:gd name="adj" fmla="val 4103"/>
            </a:avLst>
          </a:prstGeom>
          <a:solidFill>
            <a:srgbClr val="1C2A3A"/>
          </a:solidFill>
          <a:ln/>
          <a:effectLst>
            <a:outerShdw sx="100000" sy="100000" kx="0" ky="0" algn="bl" rotWithShape="0" blurRad="88900" dist="38100" dir="5400000">
              <a:srgbClr val="9AA5B1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1847088"/>
            <a:ext cx="46314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FA3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profile  (스타일 프로필)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960120" y="2267712"/>
            <a:ext cx="46314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age, gender, cityName,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style, sensitivity,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colorTone, mainColor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77356" y="1645920"/>
            <a:ext cx="5271516" cy="1783080"/>
          </a:xfrm>
          <a:prstGeom prst="roundRect">
            <a:avLst>
              <a:gd name="adj" fmla="val 4103"/>
            </a:avLst>
          </a:prstGeom>
          <a:solidFill>
            <a:srgbClr val="1C2A3A"/>
          </a:solidFill>
          <a:ln/>
          <a:effectLst>
            <a:outerShdw sx="100000" sy="100000" kx="0" ky="0" algn="bl" rotWithShape="0" blurRad="88900" dist="38100" dir="5400000">
              <a:srgbClr val="9AA5B1">
                <a:alpha val="2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97396" y="1847088"/>
            <a:ext cx="46314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FA3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weather  (날씨)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597396" y="2267712"/>
            <a:ext cx="46314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temp, feels, humidity,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code, tmax, tmin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3703320"/>
            <a:ext cx="5271516" cy="1783080"/>
          </a:xfrm>
          <a:prstGeom prst="roundRect">
            <a:avLst>
              <a:gd name="adj" fmla="val 4103"/>
            </a:avLst>
          </a:prstGeom>
          <a:solidFill>
            <a:srgbClr val="1C2A3A"/>
          </a:solidFill>
          <a:ln/>
          <a:effectLst>
            <a:outerShdw sx="100000" sy="100000" kx="0" ky="0" algn="bl" rotWithShape="0" blurRad="88900" dist="38100" dir="5400000">
              <a:srgbClr val="9AA5B1">
                <a:alpha val="2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60120" y="3904488"/>
            <a:ext cx="46314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FA3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wardrobeItem  (옷장 아이템)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960120" y="4325112"/>
            <a:ext cx="46314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name, category, color,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colorHex, warmth,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style, rainOk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77356" y="3703320"/>
            <a:ext cx="5271516" cy="1783080"/>
          </a:xfrm>
          <a:prstGeom prst="roundRect">
            <a:avLst>
              <a:gd name="adj" fmla="val 4103"/>
            </a:avLst>
          </a:prstGeom>
          <a:solidFill>
            <a:srgbClr val="1C2A3A"/>
          </a:solidFill>
          <a:ln/>
          <a:effectLst>
            <a:outerShdw sx="100000" sy="100000" kx="0" ky="0" algn="bl" rotWithShape="0" blurRad="88900" dist="38100" dir="5400000">
              <a:srgbClr val="9AA5B1">
                <a:alpha val="2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597396" y="3904488"/>
            <a:ext cx="46314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FA3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locks  (고정 아이템)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597396" y="4325112"/>
            <a:ext cx="46314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outer, top, bottom,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shoes, accessory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562356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953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추천 결과 look </a:t>
            </a:r>
            <a:pPr indent="0" marL="0">
              <a:buNone/>
            </a:pPr>
            <a:r>
              <a:rPr lang="en-US" sz="1350" dirty="0">
                <a:solidFill>
                  <a:srgbClr val="1C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= { outfits[3], palette{name, colors[3]}, reasons[] }  →  코디 3안 + 색 팔레트 + 추천 이유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53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 · 기술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사용된 기술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271516" cy="1965960"/>
          </a:xfrm>
          <a:prstGeom prst="roundRect">
            <a:avLst>
              <a:gd name="adj" fmla="val 3721"/>
            </a:avLst>
          </a:prstGeom>
          <a:solidFill>
            <a:srgbClr val="F2F4F6"/>
          </a:solidFill>
          <a:ln/>
          <a:effectLst>
            <a:outerShdw sx="100000" sy="100000" kx="0" ky="0" algn="bl" rotWithShape="0" blurRad="88900" dist="38100" dir="5400000">
              <a:srgbClr val="9AA5B1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1965960"/>
            <a:ext cx="182880" cy="182880"/>
          </a:xfrm>
          <a:prstGeom prst="ellipse">
            <a:avLst/>
          </a:prstGeom>
          <a:solidFill>
            <a:srgbClr val="D9532B"/>
          </a:solidFill>
          <a:ln/>
        </p:spPr>
      </p:sp>
      <p:sp>
        <p:nvSpPr>
          <p:cNvPr id="6" name="Text 4"/>
          <p:cNvSpPr/>
          <p:nvPr/>
        </p:nvSpPr>
        <p:spPr>
          <a:xfrm>
            <a:off x="1261872" y="1865376"/>
            <a:ext cx="43571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Frontend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2395728"/>
            <a:ext cx="45399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React 19 — 컴포넌트 UI, Hooks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Vite 7 — 개발 서버 · 정적 빌드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Tailwind CSS 3 — 반응형 UI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77356" y="1645920"/>
            <a:ext cx="5271516" cy="1965960"/>
          </a:xfrm>
          <a:prstGeom prst="roundRect">
            <a:avLst>
              <a:gd name="adj" fmla="val 3721"/>
            </a:avLst>
          </a:prstGeom>
          <a:solidFill>
            <a:srgbClr val="F2F4F6"/>
          </a:solidFill>
          <a:ln/>
          <a:effectLst>
            <a:outerShdw sx="100000" sy="100000" kx="0" ky="0" algn="bl" rotWithShape="0" blurRad="88900" dist="38100" dir="5400000">
              <a:srgbClr val="9AA5B1">
                <a:alpha val="2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597396" y="1965960"/>
            <a:ext cx="182880" cy="182880"/>
          </a:xfrm>
          <a:prstGeom prst="ellipse">
            <a:avLst/>
          </a:prstGeom>
          <a:solidFill>
            <a:srgbClr val="5B7A99"/>
          </a:solidFill>
          <a:ln/>
        </p:spPr>
      </p:sp>
      <p:sp>
        <p:nvSpPr>
          <p:cNvPr id="10" name="Text 8"/>
          <p:cNvSpPr/>
          <p:nvPr/>
        </p:nvSpPr>
        <p:spPr>
          <a:xfrm>
            <a:off x="6899148" y="1865376"/>
            <a:ext cx="43571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643116" y="2395728"/>
            <a:ext cx="45399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Open-Meteo — 실시간 날씨 (무료)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Groq Llama 3.3 70B — AI (무료)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Canvas · Web Share API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886200"/>
            <a:ext cx="5271516" cy="1965960"/>
          </a:xfrm>
          <a:prstGeom prst="roundRect">
            <a:avLst>
              <a:gd name="adj" fmla="val 3721"/>
            </a:avLst>
          </a:prstGeom>
          <a:solidFill>
            <a:srgbClr val="F2F4F6"/>
          </a:solidFill>
          <a:ln/>
          <a:effectLst>
            <a:outerShdw sx="100000" sy="100000" kx="0" ky="0" algn="bl" rotWithShape="0" blurRad="88900" dist="38100" dir="5400000">
              <a:srgbClr val="9AA5B1">
                <a:alpha val="2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960120" y="4206240"/>
            <a:ext cx="182880" cy="182880"/>
          </a:xfrm>
          <a:prstGeom prst="ellipse">
            <a:avLst/>
          </a:prstGeom>
          <a:solidFill>
            <a:srgbClr val="7C8B5A"/>
          </a:solidFill>
          <a:ln/>
        </p:spPr>
      </p:sp>
      <p:sp>
        <p:nvSpPr>
          <p:cNvPr id="14" name="Text 12"/>
          <p:cNvSpPr/>
          <p:nvPr/>
        </p:nvSpPr>
        <p:spPr>
          <a:xfrm>
            <a:off x="1261872" y="4105656"/>
            <a:ext cx="43571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Storage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05840" y="4636008"/>
            <a:ext cx="45399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localStorage — 서버 없음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프로필 · 옷장 · 기록 저장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새로고침 후에도 유지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77356" y="3886200"/>
            <a:ext cx="5271516" cy="1965960"/>
          </a:xfrm>
          <a:prstGeom prst="roundRect">
            <a:avLst>
              <a:gd name="adj" fmla="val 3721"/>
            </a:avLst>
          </a:prstGeom>
          <a:solidFill>
            <a:srgbClr val="F2F4F6"/>
          </a:solidFill>
          <a:ln/>
          <a:effectLst>
            <a:outerShdw sx="100000" sy="100000" kx="0" ky="0" algn="bl" rotWithShape="0" blurRad="88900" dist="38100" dir="5400000">
              <a:srgbClr val="9AA5B1">
                <a:alpha val="2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597396" y="4206240"/>
            <a:ext cx="182880" cy="182880"/>
          </a:xfrm>
          <a:prstGeom prst="ellipse">
            <a:avLst/>
          </a:prstGeom>
          <a:solidFill>
            <a:srgbClr val="5B7A99"/>
          </a:solidFill>
          <a:ln/>
        </p:spPr>
      </p:sp>
      <p:sp>
        <p:nvSpPr>
          <p:cNvPr id="18" name="Text 16"/>
          <p:cNvSpPr/>
          <p:nvPr/>
        </p:nvSpPr>
        <p:spPr>
          <a:xfrm>
            <a:off x="6899148" y="4105656"/>
            <a:ext cx="43571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Deployment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643116" y="4636008"/>
            <a:ext cx="45399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GitHub Pages — 정적 배포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GitHub Actions — 자동 빌드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반응형 · PWA 준비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53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 · 구조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구조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구현은 React SPA — index.html 하나에서 화면 상태를 전환해 여러 화면처럼 동작한다.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9659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53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단위 구조 (발표 관점)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423160"/>
            <a:ext cx="5029200" cy="530352"/>
          </a:xfrm>
          <a:prstGeom prst="roundRect">
            <a:avLst>
              <a:gd name="adj" fmla="val 10345"/>
            </a:avLst>
          </a:prstGeom>
          <a:solidFill>
            <a:srgbClr val="F2F4F6"/>
          </a:solidFill>
          <a:ln/>
        </p:spPr>
      </p:sp>
      <p:sp>
        <p:nvSpPr>
          <p:cNvPr id="7" name="Shape 5"/>
          <p:cNvSpPr/>
          <p:nvPr/>
        </p:nvSpPr>
        <p:spPr>
          <a:xfrm>
            <a:off x="868680" y="2615184"/>
            <a:ext cx="146304" cy="146304"/>
          </a:xfrm>
          <a:prstGeom prst="ellipse">
            <a:avLst/>
          </a:prstGeom>
          <a:solidFill>
            <a:srgbClr val="5B7A99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2423160"/>
            <a:ext cx="4297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프로필 설정 화면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3081528"/>
            <a:ext cx="5029200" cy="530352"/>
          </a:xfrm>
          <a:prstGeom prst="roundRect">
            <a:avLst>
              <a:gd name="adj" fmla="val 10345"/>
            </a:avLst>
          </a:prstGeom>
          <a:solidFill>
            <a:srgbClr val="F2F4F6"/>
          </a:solidFill>
          <a:ln/>
        </p:spPr>
      </p:sp>
      <p:sp>
        <p:nvSpPr>
          <p:cNvPr id="10" name="Shape 8"/>
          <p:cNvSpPr/>
          <p:nvPr/>
        </p:nvSpPr>
        <p:spPr>
          <a:xfrm>
            <a:off x="868680" y="3273552"/>
            <a:ext cx="146304" cy="146304"/>
          </a:xfrm>
          <a:prstGeom prst="ellipse">
            <a:avLst/>
          </a:prstGeom>
          <a:solidFill>
            <a:srgbClr val="5B7A99"/>
          </a:solidFill>
          <a:ln/>
        </p:spPr>
      </p:sp>
      <p:sp>
        <p:nvSpPr>
          <p:cNvPr id="11" name="Text 9"/>
          <p:cNvSpPr/>
          <p:nvPr/>
        </p:nvSpPr>
        <p:spPr>
          <a:xfrm>
            <a:off x="1188720" y="3081528"/>
            <a:ext cx="4297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날씨 기반 추천 결과 화면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3739896"/>
            <a:ext cx="5029200" cy="530352"/>
          </a:xfrm>
          <a:prstGeom prst="roundRect">
            <a:avLst>
              <a:gd name="adj" fmla="val 10345"/>
            </a:avLst>
          </a:prstGeom>
          <a:solidFill>
            <a:srgbClr val="F2F4F6"/>
          </a:solidFill>
          <a:ln/>
        </p:spPr>
      </p:sp>
      <p:sp>
        <p:nvSpPr>
          <p:cNvPr id="13" name="Shape 11"/>
          <p:cNvSpPr/>
          <p:nvPr/>
        </p:nvSpPr>
        <p:spPr>
          <a:xfrm>
            <a:off x="868680" y="3931920"/>
            <a:ext cx="146304" cy="146304"/>
          </a:xfrm>
          <a:prstGeom prst="ellipse">
            <a:avLst/>
          </a:prstGeom>
          <a:solidFill>
            <a:srgbClr val="5B7A99"/>
          </a:solidFill>
          <a:ln/>
        </p:spPr>
      </p:sp>
      <p:sp>
        <p:nvSpPr>
          <p:cNvPr id="14" name="Text 12"/>
          <p:cNvSpPr/>
          <p:nvPr/>
        </p:nvSpPr>
        <p:spPr>
          <a:xfrm>
            <a:off x="1188720" y="3739896"/>
            <a:ext cx="4297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옷장 등록·관리 화면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40080" y="4398264"/>
            <a:ext cx="5029200" cy="530352"/>
          </a:xfrm>
          <a:prstGeom prst="roundRect">
            <a:avLst>
              <a:gd name="adj" fmla="val 10345"/>
            </a:avLst>
          </a:prstGeom>
          <a:solidFill>
            <a:srgbClr val="F2F4F6"/>
          </a:solidFill>
          <a:ln/>
        </p:spPr>
      </p:sp>
      <p:sp>
        <p:nvSpPr>
          <p:cNvPr id="16" name="Shape 14"/>
          <p:cNvSpPr/>
          <p:nvPr/>
        </p:nvSpPr>
        <p:spPr>
          <a:xfrm>
            <a:off x="868680" y="4590288"/>
            <a:ext cx="146304" cy="146304"/>
          </a:xfrm>
          <a:prstGeom prst="ellipse">
            <a:avLst/>
          </a:prstGeom>
          <a:solidFill>
            <a:srgbClr val="5B7A99"/>
          </a:solidFill>
          <a:ln/>
        </p:spPr>
      </p:sp>
      <p:sp>
        <p:nvSpPr>
          <p:cNvPr id="17" name="Text 15"/>
          <p:cNvSpPr/>
          <p:nvPr/>
        </p:nvSpPr>
        <p:spPr>
          <a:xfrm>
            <a:off x="1188720" y="4398264"/>
            <a:ext cx="4297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고정 아이템 코디 결과 화면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40080" y="5056632"/>
            <a:ext cx="5029200" cy="530352"/>
          </a:xfrm>
          <a:prstGeom prst="roundRect">
            <a:avLst>
              <a:gd name="adj" fmla="val 10345"/>
            </a:avLst>
          </a:prstGeom>
          <a:solidFill>
            <a:srgbClr val="F2F4F6"/>
          </a:solidFill>
          <a:ln/>
        </p:spPr>
      </p:sp>
      <p:sp>
        <p:nvSpPr>
          <p:cNvPr id="19" name="Shape 17"/>
          <p:cNvSpPr/>
          <p:nvPr/>
        </p:nvSpPr>
        <p:spPr>
          <a:xfrm>
            <a:off x="868680" y="5248656"/>
            <a:ext cx="146304" cy="146304"/>
          </a:xfrm>
          <a:prstGeom prst="ellipse">
            <a:avLst/>
          </a:prstGeom>
          <a:solidFill>
            <a:srgbClr val="7C8B5A"/>
          </a:solidFill>
          <a:ln/>
        </p:spPr>
      </p:sp>
      <p:sp>
        <p:nvSpPr>
          <p:cNvPr id="20" name="Text 18"/>
          <p:cNvSpPr/>
          <p:nvPr/>
        </p:nvSpPr>
        <p:spPr>
          <a:xfrm>
            <a:off x="1188720" y="5056632"/>
            <a:ext cx="4297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GitHub Pages 정적 배포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217920" y="1965960"/>
            <a:ext cx="5330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구조 (React SPA)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217920" y="2423160"/>
            <a:ext cx="5330952" cy="3246120"/>
          </a:xfrm>
          <a:prstGeom prst="roundRect">
            <a:avLst>
              <a:gd name="adj" fmla="val 2254"/>
            </a:avLst>
          </a:prstGeom>
          <a:solidFill>
            <a:srgbClr val="1C2A3A"/>
          </a:solidFill>
          <a:ln/>
          <a:effectLst>
            <a:outerShdw sx="100000" sy="100000" kx="0" ky="0" algn="bl" rotWithShape="0" blurRad="88900" dist="38100" dir="5400000">
              <a:srgbClr val="9AA5B1">
                <a:alpha val="2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37960" y="2606040"/>
            <a:ext cx="4690872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D953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WeatherFit/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index.html, package.json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vite.config.js, tailwind.config.js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.github/workflows/deploy.yml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 src/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 main.jsx, App.jsx, index.css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 data/cities.js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 lib/  weather · curate ·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│        theme · wardrobe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└─ components/  ProfileSetup ·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WeatherHero · MoodPicker ·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LookCard · ColorPalette ·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ColorText · InsightPanel ·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WardrobePanel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53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 · 파일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파일 역할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908792" cy="749808"/>
          </a:xfrm>
          <a:prstGeom prst="roundRect">
            <a:avLst>
              <a:gd name="adj" fmla="val 8537"/>
            </a:avLst>
          </a:prstGeom>
          <a:solidFill>
            <a:srgbClr val="F2F4F6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691640"/>
            <a:ext cx="2468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App.jsx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566160" y="1691640"/>
            <a:ext cx="76169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앱 상태 관리 — 프로필·날씨·옷장·고정·저장·화면 구성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2642616"/>
            <a:ext cx="10908792" cy="749808"/>
          </a:xfrm>
          <a:prstGeom prst="roundRect">
            <a:avLst>
              <a:gd name="adj" fmla="val 8537"/>
            </a:avLst>
          </a:prstGeom>
          <a:solidFill>
            <a:srgbClr val="F2F4F6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2642616"/>
            <a:ext cx="2468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weather.js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566160" y="2642616"/>
            <a:ext cx="76169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Open-Meteo API 호출 + 날씨 코드 해석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3593592"/>
            <a:ext cx="10908792" cy="914400"/>
          </a:xfrm>
          <a:prstGeom prst="roundRect">
            <a:avLst>
              <a:gd name="adj" fmla="val 7000"/>
            </a:avLst>
          </a:prstGeom>
          <a:solidFill>
            <a:srgbClr val="FBF3EF"/>
          </a:solidFill>
          <a:ln/>
          <a:effectLst>
            <a:outerShdw sx="100000" sy="100000" kx="0" ky="0" algn="bl" rotWithShape="0" blurRad="88900" dist="38100" dir="5400000">
              <a:srgbClr val="9AA5B1">
                <a:alpha val="2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005840" y="3593592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53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curate.js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566160" y="3593592"/>
            <a:ext cx="7616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C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 핵심 추천 엔진 — 체감·성별·스타일·팔레트 반영, 코디 3안·이유 생성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4709160"/>
            <a:ext cx="10908792" cy="749808"/>
          </a:xfrm>
          <a:prstGeom prst="roundRect">
            <a:avLst>
              <a:gd name="adj" fmla="val 8537"/>
            </a:avLst>
          </a:prstGeom>
          <a:solidFill>
            <a:srgbClr val="F2F4F6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4709160"/>
            <a:ext cx="2468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wardrobe.js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566160" y="4709160"/>
            <a:ext cx="76169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옷장 기반 추천 — 아이템 점수 계산·고정 반영·부족 부위 보완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5660136"/>
            <a:ext cx="10908792" cy="749808"/>
          </a:xfrm>
          <a:prstGeom prst="roundRect">
            <a:avLst>
              <a:gd name="adj" fmla="val 8537"/>
            </a:avLst>
          </a:prstGeom>
          <a:solidFill>
            <a:srgbClr val="F2F4F6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5660136"/>
            <a:ext cx="2468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components/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566160" y="5660136"/>
            <a:ext cx="76169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ProfileSetup · WeatherHero · LookCard · WardrobePanel · ColorText 등 UI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53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 · UI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레이아웃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4114800" cy="4114800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 w="15875">
            <a:solidFill>
              <a:srgbClr val="E2E6EA"/>
            </a:solidFill>
            <a:prstDash val="solid"/>
          </a:ln>
          <a:effectLst>
            <a:outerShdw sx="100000" sy="100000" kx="0" ky="0" algn="bl" rotWithShape="0" blurRad="88900" dist="38100" dir="5400000">
              <a:srgbClr val="9AA5B1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901952"/>
            <a:ext cx="3785616" cy="310896"/>
          </a:xfrm>
          <a:prstGeom prst="rect">
            <a:avLst/>
          </a:prstGeom>
          <a:solidFill>
            <a:srgbClr val="1C2A3A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901952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프로필 설정 화면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804672" y="2359152"/>
            <a:ext cx="3785616" cy="384048"/>
          </a:xfrm>
          <a:prstGeom prst="roundRect">
            <a:avLst>
              <a:gd name="adj" fmla="val 9524"/>
            </a:avLst>
          </a:prstGeom>
          <a:solidFill>
            <a:srgbClr val="5B7A99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35915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위치 선택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804672" y="2862072"/>
            <a:ext cx="3785616" cy="384048"/>
          </a:xfrm>
          <a:prstGeom prst="roundRect">
            <a:avLst>
              <a:gd name="adj" fmla="val 9524"/>
            </a:avLst>
          </a:prstGeom>
          <a:solidFill>
            <a:srgbClr val="5B7A99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86207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나이대 · 성별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804672" y="3364992"/>
            <a:ext cx="3785616" cy="384048"/>
          </a:xfrm>
          <a:prstGeom prst="roundRect">
            <a:avLst>
              <a:gd name="adj" fmla="val 9524"/>
            </a:avLst>
          </a:prstGeom>
          <a:solidFill>
            <a:srgbClr val="5B7A99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36499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선호 스타일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04672" y="3867912"/>
            <a:ext cx="3785616" cy="384048"/>
          </a:xfrm>
          <a:prstGeom prst="roundRect">
            <a:avLst>
              <a:gd name="adj" fmla="val 9524"/>
            </a:avLst>
          </a:prstGeom>
          <a:solidFill>
            <a:srgbClr val="5B7A99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86791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온도 민감도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804672" y="4370832"/>
            <a:ext cx="3785616" cy="384048"/>
          </a:xfrm>
          <a:prstGeom prst="roundRect">
            <a:avLst>
              <a:gd name="adj" fmla="val 9524"/>
            </a:avLst>
          </a:prstGeom>
          <a:solidFill>
            <a:srgbClr val="5B7A99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37083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색감 선호 · 주요 컬러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04672" y="4873752"/>
            <a:ext cx="3785616" cy="411480"/>
          </a:xfrm>
          <a:prstGeom prst="roundRect">
            <a:avLst>
              <a:gd name="adj" fmla="val 8889"/>
            </a:avLst>
          </a:prstGeom>
          <a:solidFill>
            <a:srgbClr val="D9532B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4873752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 시작 버튼 ]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212080" y="1737360"/>
            <a:ext cx="6336792" cy="4114800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 w="15875">
            <a:solidFill>
              <a:srgbClr val="E2E6EA"/>
            </a:solidFill>
            <a:prstDash val="solid"/>
          </a:ln>
          <a:effectLst>
            <a:outerShdw sx="100000" sy="100000" kx="0" ky="0" algn="bl" rotWithShape="0" blurRad="88900" dist="38100" dir="5400000">
              <a:srgbClr val="9AA5B1">
                <a:alpha val="2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376672" y="1901952"/>
            <a:ext cx="6007608" cy="310896"/>
          </a:xfrm>
          <a:prstGeom prst="rect">
            <a:avLst/>
          </a:prstGeom>
          <a:solidFill>
            <a:srgbClr val="1C2A3A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0" y="1901952"/>
            <a:ext cx="57881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 추천 화면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376672" y="2304288"/>
            <a:ext cx="6007608" cy="365760"/>
          </a:xfrm>
          <a:prstGeom prst="roundRect">
            <a:avLst>
              <a:gd name="adj" fmla="val 10000"/>
            </a:avLst>
          </a:prstGeom>
          <a:solidFill>
            <a:srgbClr val="1C2A3A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0" y="2304288"/>
            <a:ext cx="5788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상단: 로고 · 도시 선택 · 프로필 수정 · 초기화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376672" y="2761488"/>
            <a:ext cx="29123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중앙 왼쪽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376672" y="3081528"/>
            <a:ext cx="2912364" cy="457200"/>
          </a:xfrm>
          <a:prstGeom prst="roundRect">
            <a:avLst>
              <a:gd name="adj" fmla="val 8000"/>
            </a:avLst>
          </a:prstGeom>
          <a:solidFill>
            <a:srgbClr val="F2F4F6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0" y="3081528"/>
            <a:ext cx="26929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고정 옷으로 다시 맞춘 코디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376672" y="3648456"/>
            <a:ext cx="2912364" cy="457200"/>
          </a:xfrm>
          <a:prstGeom prst="roundRect">
            <a:avLst>
              <a:gd name="adj" fmla="val 8000"/>
            </a:avLst>
          </a:prstGeom>
          <a:solidFill>
            <a:srgbClr val="7C8B5A"/>
          </a:solidFill>
          <a:ln/>
        </p:spPr>
      </p:sp>
      <p:sp>
        <p:nvSpPr>
          <p:cNvPr id="28" name="Text 26"/>
          <p:cNvSpPr/>
          <p:nvPr/>
        </p:nvSpPr>
        <p:spPr>
          <a:xfrm>
            <a:off x="5486400" y="3648456"/>
            <a:ext cx="26929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추천 코디 3가지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376672" y="4215384"/>
            <a:ext cx="2912364" cy="457200"/>
          </a:xfrm>
          <a:prstGeom prst="roundRect">
            <a:avLst>
              <a:gd name="adj" fmla="val 8000"/>
            </a:avLst>
          </a:prstGeom>
          <a:solidFill>
            <a:srgbClr val="F2F4F6"/>
          </a:solidFill>
          <a:ln/>
        </p:spPr>
      </p:sp>
      <p:sp>
        <p:nvSpPr>
          <p:cNvPr id="30" name="Text 28"/>
          <p:cNvSpPr/>
          <p:nvPr/>
        </p:nvSpPr>
        <p:spPr>
          <a:xfrm>
            <a:off x="5486400" y="4215384"/>
            <a:ext cx="26929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추천 이유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8471916" y="2761488"/>
            <a:ext cx="29123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중앙 오른쪽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8471916" y="3081528"/>
            <a:ext cx="2912364" cy="457200"/>
          </a:xfrm>
          <a:prstGeom prst="roundRect">
            <a:avLst>
              <a:gd name="adj" fmla="val 8000"/>
            </a:avLst>
          </a:prstGeom>
          <a:solidFill>
            <a:srgbClr val="D9532B"/>
          </a:solidFill>
          <a:ln/>
        </p:spPr>
      </p:sp>
      <p:sp>
        <p:nvSpPr>
          <p:cNvPr id="33" name="Text 31"/>
          <p:cNvSpPr/>
          <p:nvPr/>
        </p:nvSpPr>
        <p:spPr>
          <a:xfrm>
            <a:off x="8581644" y="3081528"/>
            <a:ext cx="26929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색감 팔레트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8471916" y="3648456"/>
            <a:ext cx="2912364" cy="457200"/>
          </a:xfrm>
          <a:prstGeom prst="roundRect">
            <a:avLst>
              <a:gd name="adj" fmla="val 8000"/>
            </a:avLst>
          </a:prstGeom>
          <a:solidFill>
            <a:srgbClr val="F2F4F6"/>
          </a:solidFill>
          <a:ln/>
        </p:spPr>
      </p:sp>
      <p:sp>
        <p:nvSpPr>
          <p:cNvPr id="35" name="Text 33"/>
          <p:cNvSpPr/>
          <p:nvPr/>
        </p:nvSpPr>
        <p:spPr>
          <a:xfrm>
            <a:off x="8581644" y="3648456"/>
            <a:ext cx="26929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옷장 · 옷 추가 · 색상칩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8471916" y="4215384"/>
            <a:ext cx="2912364" cy="457200"/>
          </a:xfrm>
          <a:prstGeom prst="roundRect">
            <a:avLst>
              <a:gd name="adj" fmla="val 8000"/>
            </a:avLst>
          </a:prstGeom>
          <a:solidFill>
            <a:srgbClr val="F2F4F6"/>
          </a:solidFill>
          <a:ln/>
        </p:spPr>
      </p:sp>
      <p:sp>
        <p:nvSpPr>
          <p:cNvPr id="37" name="Text 35"/>
          <p:cNvSpPr/>
          <p:nvPr/>
        </p:nvSpPr>
        <p:spPr>
          <a:xfrm>
            <a:off x="8581644" y="4215384"/>
            <a:ext cx="26929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꼭 입고 싶은 옷 고정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8471916" y="4782312"/>
            <a:ext cx="2912364" cy="457200"/>
          </a:xfrm>
          <a:prstGeom prst="roundRect">
            <a:avLst>
              <a:gd name="adj" fmla="val 8000"/>
            </a:avLst>
          </a:prstGeom>
          <a:solidFill>
            <a:srgbClr val="F2F4F6"/>
          </a:solidFill>
          <a:ln/>
        </p:spPr>
      </p:sp>
      <p:sp>
        <p:nvSpPr>
          <p:cNvPr id="39" name="Text 37"/>
          <p:cNvSpPr/>
          <p:nvPr/>
        </p:nvSpPr>
        <p:spPr>
          <a:xfrm>
            <a:off x="8581644" y="4782312"/>
            <a:ext cx="26929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옷장 기반 코디 결과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53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 · 강조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 차별점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00784"/>
            <a:ext cx="310896" cy="310896"/>
          </a:xfrm>
          <a:prstGeom prst="ellipse">
            <a:avLst/>
          </a:prstGeom>
          <a:solidFill>
            <a:srgbClr val="D9532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7007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43000" y="1645920"/>
            <a:ext cx="10405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C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단순 날씨 앱이 아닌 ‘패션 큐레이션’ 서비스      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기온뿐 아니라 체감·강수·일교차까지 종합 반영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2414016"/>
            <a:ext cx="310896" cy="310896"/>
          </a:xfrm>
          <a:prstGeom prst="ellipse">
            <a:avLst/>
          </a:prstGeom>
          <a:solidFill>
            <a:srgbClr val="5B7A99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4140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43000" y="2359152"/>
            <a:ext cx="10405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C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스타일 프로필을 반영      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성별·선호 스타일·온도 민감도로 추천을 개인화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3127248"/>
            <a:ext cx="310896" cy="310896"/>
          </a:xfrm>
          <a:prstGeom prst="ellipse">
            <a:avLst/>
          </a:prstGeom>
          <a:solidFill>
            <a:srgbClr val="7C8B5A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1272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43000" y="3072384"/>
            <a:ext cx="10405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C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색감 선호를 실제 코디 색상에 반영      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선호 팔레트 3색을 추천 코디에 반드시 사용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0080" y="3840480"/>
            <a:ext cx="310896" cy="310896"/>
          </a:xfrm>
          <a:prstGeom prst="ellipse">
            <a:avLst/>
          </a:prstGeom>
          <a:solidFill>
            <a:srgbClr val="D9532B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8404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43000" y="3785616"/>
            <a:ext cx="10405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C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옷장으로 ‘실제 입을 수 있는’ 코디      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고정 아이템 중심으로 나머지 부위를 자동 조합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0080" y="4553712"/>
            <a:ext cx="310896" cy="310896"/>
          </a:xfrm>
          <a:prstGeom prst="ellipse">
            <a:avLst/>
          </a:prstGeom>
          <a:solidFill>
            <a:srgbClr val="5B7A99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5537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43000" y="4498848"/>
            <a:ext cx="10405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C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localStorage 저장 + GitHub Pages 배포      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유지 + 공유 가능한 웹사이트로 배포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40080" y="5266944"/>
            <a:ext cx="310896" cy="310896"/>
          </a:xfrm>
          <a:prstGeom prst="ellipse">
            <a:avLst/>
          </a:prstGeom>
          <a:solidFill>
            <a:srgbClr val="7C8B5A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52669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43000" y="5212080"/>
            <a:ext cx="10405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C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패션 용어에 쉬운 설명 병기      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예: 버뮤다 쇼츠(무릎길이 반바지), 블레이저(자켓)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C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920240"/>
            <a:ext cx="237744" cy="237744"/>
          </a:xfrm>
          <a:prstGeom prst="ellipse">
            <a:avLst/>
          </a:prstGeom>
          <a:solidFill>
            <a:srgbClr val="D9532B"/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" y="1920240"/>
            <a:ext cx="237744" cy="237744"/>
          </a:xfrm>
          <a:prstGeom prst="ellipse">
            <a:avLst/>
          </a:prstGeom>
          <a:solidFill>
            <a:srgbClr val="7C8B5A"/>
          </a:solidFill>
          <a:ln/>
        </p:spPr>
      </p:sp>
      <p:sp>
        <p:nvSpPr>
          <p:cNvPr id="4" name="Shape 2"/>
          <p:cNvSpPr/>
          <p:nvPr/>
        </p:nvSpPr>
        <p:spPr>
          <a:xfrm>
            <a:off x="1408176" y="1920240"/>
            <a:ext cx="237744" cy="237744"/>
          </a:xfrm>
          <a:prstGeom prst="ellipse">
            <a:avLst/>
          </a:prstGeom>
          <a:solidFill>
            <a:srgbClr val="5B7A99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377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D953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줄 소개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834640"/>
            <a:ext cx="10424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 날씨</a:t>
            </a:r>
            <a:pPr indent="0" marL="0">
              <a:lnSpc>
                <a:spcPct val="125000"/>
              </a:lnSpc>
              <a:buNone/>
            </a:pPr>
            <a:r>
              <a:rPr lang="en-US" sz="30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와 </a:t>
            </a:r>
            <a:pPr indent="0" marL="0">
              <a:lnSpc>
                <a:spcPct val="12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스타일 프로필</a:t>
            </a:r>
            <a:pPr indent="0" marL="0">
              <a:lnSpc>
                <a:spcPct val="125000"/>
              </a:lnSpc>
              <a:buNone/>
            </a:pPr>
            <a:r>
              <a:rPr lang="en-US" sz="30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pPr indent="0" marL="0">
              <a:lnSpc>
                <a:spcPct val="12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 옷장 데이터</a:t>
            </a:r>
            <a:pPr indent="0" marL="0">
              <a:lnSpc>
                <a:spcPct val="125000"/>
              </a:lnSpc>
              <a:buNone/>
            </a:pPr>
            <a:r>
              <a:rPr lang="en-US" sz="30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바탕으로 오늘 입기 좋은 코디를 추천하는 </a:t>
            </a:r>
            <a:pPr indent="0" marL="0">
              <a:lnSpc>
                <a:spcPct val="125000"/>
              </a:lnSpc>
              <a:buNone/>
            </a:pPr>
            <a:r>
              <a:rPr lang="en-US" sz="3000" b="1" dirty="0">
                <a:solidFill>
                  <a:srgbClr val="D953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날씨 기반 패션 큐레이션 웹앱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40080" y="5852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3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미니멀 편집숍 무드 · 색상칩 기반 시각화 · GitHub Pages 배포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WeatherFit 기획안</dc:title>
  <dc:subject>PptxGenJS Presentation</dc:subject>
  <dc:creator>정은호</dc:creator>
  <cp:lastModifiedBy>정은호</cp:lastModifiedBy>
  <cp:revision>1</cp:revision>
  <dcterms:created xsi:type="dcterms:W3CDTF">2026-06-20T12:43:12Z</dcterms:created>
  <dcterms:modified xsi:type="dcterms:W3CDTF">2026-06-20T12:43:12Z</dcterms:modified>
</cp:coreProperties>
</file>